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09728" cy="2560320"/>
          </a:xfrm>
          <a:prstGeom prst="rect">
            <a:avLst/>
          </a:prstGeom>
          <a:solidFill>
            <a:srgbClr val="D478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LINGTIN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产品综合使用指南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语音智能管理平台  ·  说了 → 记了 → 做了 → 验了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011680" cy="365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v1.2.0  |  2026-02-25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产品简介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Lingtin 是餐饮行业的语音驱动管理工具，帮助团队建立管理闭环：通过录音采集顾客真实反馈，由 AI 自动分析并生成可执行的改善建议。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4068" y="21945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4068" y="2194560"/>
            <a:ext cx="18288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Shape 5"/>
          <p:cNvSpPr/>
          <p:nvPr/>
        </p:nvSpPr>
        <p:spPr>
          <a:xfrm>
            <a:off x="1138428" y="242316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256946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4068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说了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81228" y="3611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录音采集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顾客反馈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92608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19756" y="21945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619756" y="2194560"/>
            <a:ext cx="1828800" cy="54864"/>
          </a:xfrm>
          <a:prstGeom prst="rect">
            <a:avLst/>
          </a:prstGeom>
          <a:solidFill>
            <a:srgbClr val="D4785C"/>
          </a:solidFill>
          <a:ln/>
        </p:spPr>
      </p:sp>
      <p:sp>
        <p:nvSpPr>
          <p:cNvPr id="14" name="Shape 10"/>
          <p:cNvSpPr/>
          <p:nvPr/>
        </p:nvSpPr>
        <p:spPr>
          <a:xfrm>
            <a:off x="3214116" y="2423160"/>
            <a:ext cx="640080" cy="640080"/>
          </a:xfrm>
          <a:prstGeom prst="ellipse">
            <a:avLst/>
          </a:prstGeom>
          <a:solidFill>
            <a:srgbClr val="D478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420" y="256946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19756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记了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2756916" y="3611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转写分析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2926080"/>
            <a:ext cx="201168" cy="2011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695444" y="21945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695444" y="2194560"/>
            <a:ext cx="1828800" cy="54864"/>
          </a:xfrm>
          <a:prstGeom prst="rect">
            <a:avLst/>
          </a:prstGeom>
          <a:solidFill>
            <a:srgbClr val="C68B3E"/>
          </a:solidFill>
          <a:ln/>
        </p:spPr>
      </p:sp>
      <p:sp>
        <p:nvSpPr>
          <p:cNvPr id="21" name="Shape 15"/>
          <p:cNvSpPr/>
          <p:nvPr/>
        </p:nvSpPr>
        <p:spPr>
          <a:xfrm>
            <a:off x="5289804" y="2423160"/>
            <a:ext cx="640080" cy="640080"/>
          </a:xfrm>
          <a:prstGeom prst="ellipse">
            <a:avLst/>
          </a:prstGeom>
          <a:solidFill>
            <a:srgbClr val="C68B3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108" y="2569464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95444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做了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4832604" y="3611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行动建议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改善执行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2926080"/>
            <a:ext cx="201168" cy="20116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771132" y="21945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771132" y="2194560"/>
            <a:ext cx="1828800" cy="54864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28" name="Shape 20"/>
          <p:cNvSpPr/>
          <p:nvPr/>
        </p:nvSpPr>
        <p:spPr>
          <a:xfrm>
            <a:off x="7365492" y="2423160"/>
            <a:ext cx="640080" cy="640080"/>
          </a:xfrm>
          <a:prstGeom prst="ellipse">
            <a:avLst/>
          </a:prstGeom>
          <a:solidFill>
            <a:srgbClr val="5B8C5A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1796" y="2569464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71132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验了</a:t>
            </a:r>
            <a:endParaRPr lang="en-US" sz="2000" dirty="0"/>
          </a:p>
        </p:txBody>
      </p:sp>
      <p:sp>
        <p:nvSpPr>
          <p:cNvPr id="31" name="Text 22"/>
          <p:cNvSpPr/>
          <p:nvPr/>
        </p:nvSpPr>
        <p:spPr>
          <a:xfrm>
            <a:off x="6908292" y="3611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数据看板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追踪成效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角色与登录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访问地址  </a:t>
            </a:r>
            <a:pPr indent="0" marL="0">
              <a:buNone/>
            </a:pPr>
            <a:r>
              <a:rPr lang="en-US" sz="1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https://lt.smartice.ai</a:t>
            </a:r>
            <a:pPr indent="0" marL="0">
              <a:buNone/>
            </a:pPr>
            <a:r>
              <a:rPr lang="en-US" sz="1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推荐手机浏览器，可添加到主屏幕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2468880" cy="91440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013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店长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697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店长 / 值班经理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桌访录音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数据看板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录音、看板、AI 智库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37560" y="16916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691640"/>
            <a:ext cx="2468880" cy="914400"/>
          </a:xfrm>
          <a:prstGeom prst="rect">
            <a:avLst/>
          </a:prstGeom>
          <a:solidFill>
            <a:srgbClr val="4A7C8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0136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管理员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20440" y="2697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老板 / 区域经理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11880" y="3063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经营看板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门店详情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问卷管理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7472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经营看板、问卷、智库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26480" y="16916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1691640"/>
            <a:ext cx="2468880" cy="914400"/>
          </a:xfrm>
          <a:prstGeom prst="rect">
            <a:avLst/>
          </a:prstGeom>
          <a:solidFill>
            <a:srgbClr val="5B8C5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80136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厨师长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09360" y="2697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厨师长 / 主厨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00800" y="30632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厨房待办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菜品反馈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厨房会议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26364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待办、菜品、会议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登录步骤：打开地址 → 输入用户名密码 → 点击登录 → 自动跳转对应页面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店长使用指南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桌访录音 · 例会录音 · 数据看板 · AI 行动建议 · AI 智库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3291840"/>
            <a:ext cx="1828800" cy="36576"/>
          </a:xfrm>
          <a:prstGeom prst="rect">
            <a:avLst/>
          </a:prstGeom>
          <a:solidFill>
            <a:srgbClr val="D478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店长 · 典型一天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1234440"/>
            <a:ext cx="0" cy="3127248"/>
          </a:xfrm>
          <a:prstGeom prst="line">
            <a:avLst/>
          </a:prstGeom>
          <a:noFill/>
          <a:ln w="25400">
            <a:solidFill>
              <a:srgbClr val="E8A8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1207008"/>
            <a:ext cx="237744" cy="237744"/>
          </a:xfrm>
          <a:prstGeom prst="ellipse">
            <a:avLst/>
          </a:prstGeom>
          <a:solidFill>
            <a:srgbClr val="4A7C8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143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7C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午市前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餐前会录音 → 查看昨日待办 → AI 纪要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81328" y="1920240"/>
            <a:ext cx="237744" cy="23774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8562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午市中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18562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桌访录音 → 选桌号 → 逐桌走访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81328" y="2633472"/>
            <a:ext cx="237744" cy="237744"/>
          </a:xfrm>
          <a:prstGeom prst="ellipse">
            <a:avLst/>
          </a:prstGeom>
          <a:solidFill>
            <a:srgbClr val="C68B3E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" y="25694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68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午市后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56946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查看看板 → 处理 AI 行动建议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81328" y="3346704"/>
            <a:ext cx="237744" cy="237744"/>
          </a:xfrm>
          <a:prstGeom prst="ellipse">
            <a:avLst/>
          </a:prstGeom>
          <a:solidFill>
            <a:srgbClr val="D4785C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32826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晚  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328269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重复桌访录音流程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81328" y="4059936"/>
            <a:ext cx="237744" cy="237744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" y="39959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8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收餐后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9959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系统自动总结 → 复盘会 → AI 提取任务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3774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98448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0" y="1170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录音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58000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/recorder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17920" y="2194560"/>
            <a:ext cx="23774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95728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858000" y="22677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看板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858000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217920" y="3291840"/>
            <a:ext cx="23774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93008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858000" y="33649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智库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858000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店长 · 桌访录音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选择桌号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44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确保标签在「桌访」，点击桌号选择器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查看问卷提示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管理层配置的标准问题会自动展示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23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478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开始录音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点击红色按钮，建议单条 1 分钟内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191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停止录音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483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后台自动处理：上传→识别→分析→完成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50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904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查看历史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197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今日/昨日列表，状态实时更新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1051560"/>
            <a:ext cx="3657600" cy="1371600"/>
          </a:xfrm>
          <a:prstGeom prst="rect">
            <a:avLst/>
          </a:prstGeom>
          <a:solidFill>
            <a:srgbClr val="FDF8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051560"/>
            <a:ext cx="54864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累计统计</a:t>
            </a:r>
            <a:endParaRPr lang="en-US" sz="15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554480"/>
            <a:ext cx="182880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48640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次桌访</a:t>
            </a:r>
            <a:endParaRPr lang="en-US" sz="12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810512"/>
            <a:ext cx="182880" cy="1828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486400" y="1810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位好评</a:t>
            </a:r>
            <a:endParaRPr lang="en-US" sz="12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066544"/>
            <a:ext cx="182880" cy="1828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486400" y="20665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已改善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937760" y="2651760"/>
            <a:ext cx="3657600" cy="1005840"/>
          </a:xfrm>
          <a:prstGeom prst="rect">
            <a:avLst/>
          </a:prstGeom>
          <a:solidFill>
            <a:srgbClr val="FDF8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937760" y="2651760"/>
            <a:ext cx="54864" cy="1005840"/>
          </a:xfrm>
          <a:prstGeom prst="rect">
            <a:avLst/>
          </a:prstGeom>
          <a:solidFill>
            <a:srgbClr val="C68B3E"/>
          </a:solidFill>
          <a:ln/>
        </p:spPr>
      </p:sp>
      <p:sp>
        <p:nvSpPr>
          <p:cNvPr id="35" name="Text 30"/>
          <p:cNvSpPr/>
          <p:nvPr/>
        </p:nvSpPr>
        <p:spPr>
          <a:xfrm>
            <a:off x="516636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后台处理流程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516636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 ~2s → 语音识别 ~3-5s → AI 分析 ~7-10s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4937760" y="3886200"/>
            <a:ext cx="3657600" cy="777240"/>
          </a:xfrm>
          <a:prstGeom prst="rect">
            <a:avLst/>
          </a:prstGeom>
          <a:solidFill>
            <a:srgbClr val="FDF8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937760" y="3886200"/>
            <a:ext cx="54864" cy="777240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39" name="Text 34"/>
          <p:cNvSpPr/>
          <p:nvPr/>
        </p:nvSpPr>
        <p:spPr>
          <a:xfrm>
            <a:off x="516636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离线支持</a:t>
            </a:r>
            <a:endParaRPr lang="en-US" sz="1500" dirty="0"/>
          </a:p>
        </p:txBody>
      </p:sp>
      <p:sp>
        <p:nvSpPr>
          <p:cNvPr id="40" name="Text 35"/>
          <p:cNvSpPr/>
          <p:nvPr/>
        </p:nvSpPr>
        <p:spPr>
          <a:xfrm>
            <a:off x="516636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网络不好时本地保存（最多 20 条），恢复后自动上传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店长 · 例会录音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73152" cy="1005840"/>
          </a:xfrm>
          <a:prstGeom prst="rect">
            <a:avLst/>
          </a:prstGeom>
          <a:solidFill>
            <a:srgbClr val="4A7C8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餐前会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分钟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注意事项、推荐菜品、人员分工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73152" cy="1005840"/>
          </a:xfrm>
          <a:prstGeom prst="rect">
            <a:avLst/>
          </a:prstGeom>
          <a:solidFill>
            <a:srgbClr val="C68B3E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每日复盘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分钟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总结问题、表扬亮点、安排次日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286000"/>
            <a:ext cx="73152" cy="100584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周例会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0896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分钟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回顾本周、分析趋势、制定计划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73152" cy="1005840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厨房会议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5-15 分钟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备餐讨论、品质复盘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会议纪要输出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977640"/>
            <a:ext cx="256032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会议摘要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会议内容概述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97764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0" y="3977640"/>
            <a:ext cx="2560320" cy="54864"/>
          </a:xfrm>
          <a:prstGeom prst="rect">
            <a:avLst/>
          </a:prstGeom>
          <a:solidFill>
            <a:srgbClr val="C68B3E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关键决定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044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明确做出的决定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97764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3977640"/>
            <a:ext cx="2560320" cy="54864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行动待办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5508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负责人 + 事项 + 时间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复盘会和餐前会的行动待办自动写入行动建议系统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店长 · 每日运营闭环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188720"/>
            <a:ext cx="6400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188720"/>
            <a:ext cx="73152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14173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1298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白天桌访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16642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录音采集顾客反馈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 系统自动总结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2194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87C"/>
                </a:solidFill>
              </a:rPr>
              <a:t>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514600"/>
            <a:ext cx="6400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0" y="2514600"/>
            <a:ext cx="73152" cy="1005840"/>
          </a:xfrm>
          <a:prstGeom prst="rect">
            <a:avLst/>
          </a:prstGeom>
          <a:solidFill>
            <a:srgbClr val="C68B3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5920" y="2743200"/>
            <a:ext cx="502920" cy="502920"/>
          </a:xfrm>
          <a:prstGeom prst="ellipse">
            <a:avLst/>
          </a:prstGeom>
          <a:solidFill>
            <a:srgbClr val="C68B3E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77440" y="2624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复盘会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77440" y="29900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议题卡片辅助讨论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自动提取行动任务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3520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87C"/>
                </a:solidFill>
              </a:rPr>
              <a:t>▼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3840480"/>
            <a:ext cx="6400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0" y="3840480"/>
            <a:ext cx="73152" cy="1005840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20" name="Shape 18"/>
          <p:cNvSpPr/>
          <p:nvPr/>
        </p:nvSpPr>
        <p:spPr>
          <a:xfrm>
            <a:off x="1645920" y="4069080"/>
            <a:ext cx="502920" cy="50292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377440" y="3950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次日餐前会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377440" y="43159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自动展示昨日待办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提醒跟进改善进度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店长 · 数据看板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05156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执行覆盖率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4904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午市/晚市桌访执行情况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正常  70-90% 待改善  &lt;70% 警告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286000"/>
            <a:ext cx="54864" cy="1051560"/>
          </a:xfrm>
          <a:prstGeom prst="rect">
            <a:avLst/>
          </a:prstGeom>
          <a:solidFill>
            <a:srgbClr val="4A7C8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情绪概览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88720" y="27249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正面/中性/负面分布 + 反馈气泡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点击气泡查看对话，可播放「原声」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520440"/>
            <a:ext cx="54864" cy="1051560"/>
          </a:xfrm>
          <a:prstGeom prst="rect">
            <a:avLst/>
          </a:prstGeom>
          <a:solidFill>
            <a:srgbClr val="5B8C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菜品提及 TOP 5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88720" y="3959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被提到最多的菜品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好评/差评标签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10515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1051560"/>
            <a:ext cx="54864" cy="1051560"/>
          </a:xfrm>
          <a:prstGeom prst="rect">
            <a:avLst/>
          </a:prstGeom>
          <a:solidFill>
            <a:srgbClr val="C68B3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话术使用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86400" y="14904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桌访中的提问记录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 优化」按钮跳转智库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846320" y="22860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0" y="228600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4231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行动建议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486400" y="27249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分析负面反馈 → 生成改善建议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知悉 / 已解决 / 忽略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店长 · AI 智库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通过底部导航进入「智库」，用自然语言提问，获取经营洞察和建议。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9728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日常复盘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554480"/>
            <a:ext cx="6583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5544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今天顾客整体满意度怎么样？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109728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219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菜品分析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2176272"/>
            <a:ext cx="6583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2176272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本周被差评最多的菜是哪道？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43784"/>
            <a:ext cx="109728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437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话术改进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2798064"/>
            <a:ext cx="6583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11680" y="279806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帮我分析最近的桌访话术，怎么优化？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65576"/>
            <a:ext cx="109728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655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趋势追踪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419856"/>
            <a:ext cx="6583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0" y="3419856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这周和上周相比，覆盖率有变化吗？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087368"/>
            <a:ext cx="109728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87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问题排查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4041648"/>
            <a:ext cx="65836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1680" y="404164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桌顾客说了什么？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只能访问本店数据，其他门店看不到你的信息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店长 · 常见问题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527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录音按钮点不了？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3990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检查是否已选择桌号。必须先选桌号才能开始录音。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847088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0253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一直显示处理中？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88720" y="21488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 10-15 秒。超过 1 分钟请刷新页面。失败后点「重试」。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596896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5234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642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顾客说方言能识别吗？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88720" y="28986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可以，支持 200 多种方言自动识别。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346704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0215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392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例会和桌访有什么区别？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88720" y="36484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桌访分析顾客情绪和菜品反馈；例会生成摘要、关键决定和行动待办。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096512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519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首次录音需要注意什么？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88720" y="43982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浏览器会弹出麦克风授权请求，请点击「允许」。误点可在设置中开启。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厨师长使用指南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菜品反馈 · 厨房待办 · 厨房会议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3291840"/>
            <a:ext cx="1828800" cy="36576"/>
          </a:xfrm>
          <a:prstGeom prst="rect">
            <a:avLst/>
          </a:prstGeom>
          <a:solidFill>
            <a:srgbClr val="D478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厨师长 · 典型一天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1234440"/>
            <a:ext cx="0" cy="1783080"/>
          </a:xfrm>
          <a:prstGeom prst="line">
            <a:avLst/>
          </a:prstGeom>
          <a:noFill/>
          <a:ln w="25400">
            <a:solidFill>
              <a:srgbClr val="E8A8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1207008"/>
            <a:ext cx="237744" cy="237744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143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8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午市前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打开「厨房待办」→ 查看改善任务 → 安排改进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81328" y="2075688"/>
            <a:ext cx="237744" cy="23774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2011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餐后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切到「菜品反馈」→ 查看差评菜 → 播放原声 → 对比昨日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81328" y="2944368"/>
            <a:ext cx="237744" cy="237744"/>
          </a:xfrm>
          <a:prstGeom prst="ellipse">
            <a:avLst/>
          </a:prstGeom>
          <a:solidFill>
            <a:srgbClr val="C68B3E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" y="2880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68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收餐后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参加复盘会 / 在「厨房会议」查看 AI 纪要 → 调整备餐计划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91840"/>
            <a:ext cx="2651760" cy="54864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厨房待办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/chef/dashboard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与厨房相关的改善任务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32918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29000" y="3291840"/>
            <a:ext cx="26517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菜品反馈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/chef/dishes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差评菜优先 + 对话溯源 + 播放原声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2918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291840"/>
            <a:ext cx="2651760" cy="54864"/>
          </a:xfrm>
          <a:prstGeom prst="rect">
            <a:avLst/>
          </a:prstGeom>
          <a:solidFill>
            <a:srgbClr val="C68B3E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厨房会议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/chef/meetings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会议录音 + AI 自动生成纪要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厨师长 · 菜品反馈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704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51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差评菜品优先展示，3 秒定位问题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29000" y="1051560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1704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1920" y="1051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直接看顾客原话，不是二手转述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309360" y="1051560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7043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12280" y="1051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播放原声录音，完全还原现场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48640" y="1947672"/>
            <a:ext cx="320040" cy="32004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14" name="Text 9"/>
          <p:cNvSpPr/>
          <p:nvPr/>
        </p:nvSpPr>
        <p:spPr>
          <a:xfrm>
            <a:off x="548640" y="1947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0584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进入菜品反馈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0584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底部导航点「菜品」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2633472"/>
            <a:ext cx="320040" cy="32004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18" name="Text 13"/>
          <p:cNvSpPr/>
          <p:nvPr/>
        </p:nvSpPr>
        <p:spPr>
          <a:xfrm>
            <a:off x="548640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0584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查看需要关注的菜品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0584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上方区域展示差评菜，按差评数排列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319272"/>
            <a:ext cx="320040" cy="32004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22" name="Text 17"/>
          <p:cNvSpPr/>
          <p:nvPr/>
        </p:nvSpPr>
        <p:spPr>
          <a:xfrm>
            <a:off x="548640" y="3319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0584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展开对话详情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00584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点击菜品卡片 → 每桌完整对话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846320" y="1947672"/>
            <a:ext cx="320040" cy="32004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26" name="Text 21"/>
          <p:cNvSpPr/>
          <p:nvPr/>
        </p:nvSpPr>
        <p:spPr>
          <a:xfrm>
            <a:off x="4846320" y="1947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30352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播放原声录音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30352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对话区右上角点「播放原声」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846320" y="2633472"/>
            <a:ext cx="320040" cy="32004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30" name="Text 25"/>
          <p:cNvSpPr/>
          <p:nvPr/>
        </p:nvSpPr>
        <p:spPr>
          <a:xfrm>
            <a:off x="4846320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30352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切换日期对比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530352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顶部切换「今日/昨日」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846320" y="3319272"/>
            <a:ext cx="320040" cy="32004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34" name="Text 29"/>
          <p:cNvSpPr/>
          <p:nvPr/>
        </p:nvSpPr>
        <p:spPr>
          <a:xfrm>
            <a:off x="4846320" y="3319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30352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查看好评菜品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530352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下方「表现不错」区展示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486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适用场景</a:t>
            </a:r>
            <a:endParaRPr lang="en-US" sz="14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07408"/>
            <a:ext cx="164592" cy="16459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14400" y="4370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每餐结束后：快速检查有没有菜出问题</a:t>
            </a:r>
            <a:endParaRPr lang="en-US" sz="11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63440"/>
            <a:ext cx="164592" cy="16459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14400" y="46268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收到差评时：溯源具体是哪桌、顾客怎么说的</a:t>
            </a:r>
            <a:endParaRPr lang="en-US" sz="11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19472"/>
            <a:ext cx="164592" cy="16459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14400" y="4882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调整菜品前：确认问题是普遍的还是偶发的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厨师长 · 待办与会议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840480" cy="2194560"/>
          </a:xfrm>
          <a:prstGeom prst="rect">
            <a:avLst/>
          </a:prstGeom>
          <a:solidFill>
            <a:srgbClr val="FDF8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2194560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厨房待办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只看与厨房相关的待办（菜品质量类），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不被服务、环境等无关建议干扰。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12848"/>
            <a:ext cx="822960" cy="256032"/>
          </a:xfrm>
          <a:prstGeom prst="rect">
            <a:avLst/>
          </a:prstGeom>
          <a:solidFill>
            <a:srgbClr val="4A7C8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128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194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已了解问题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532888"/>
            <a:ext cx="822960" cy="256032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32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已解决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可附备注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2852928"/>
            <a:ext cx="822960" cy="25603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8529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忽略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834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偶发不处理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3840480" cy="2194560"/>
          </a:xfrm>
          <a:prstGeom prst="rect">
            <a:avLst/>
          </a:prstGeom>
          <a:solidFill>
            <a:srgbClr val="FDF8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51560"/>
            <a:ext cx="54864" cy="2194560"/>
          </a:xfrm>
          <a:prstGeom prst="rect">
            <a:avLst/>
          </a:prstGeom>
          <a:solidFill>
            <a:srgbClr val="C68B3E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厨房会议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1508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厨房晨会、备餐讨论也能 AI 记录，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自动生成纪要。</a:t>
            </a:r>
            <a:endParaRPr lang="en-US" sz="12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194560"/>
            <a:ext cx="164592" cy="16459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303520" y="2167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底部导航点「会议」</a:t>
            </a:r>
            <a:endParaRPr lang="en-US" sz="11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468880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03520" y="2441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选择「厨房会议」类型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43200"/>
            <a:ext cx="164592" cy="1645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03520" y="2715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录音 5-15 分钟</a:t>
            </a:r>
            <a:endParaRPr lang="en-US" sz="11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17520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03520" y="2990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 AI 纪要（摘要 + 决定 + 待办）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厨师长常见问题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31920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0120" y="38862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差评原话不准确？  </a:t>
            </a:r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点「播放原声」听录音确认，AI 转写偶尔有偏差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43400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60120" y="4297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没有菜品数据？  </a:t>
            </a:r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菜品反馈来源于店长桌访录音，需店长先完成当日桌访</a:t>
            </a:r>
            <a:endParaRPr lang="en-US" sz="11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754880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60120" y="47091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好评菜也想看详情？  </a:t>
            </a:r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目前好评区只显示汇总，详细对话后续支持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术语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1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桌访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店长走到顾客桌前交流并录音收集反馈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1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覆盖率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当天桌访数 / 开台数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1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情绪分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量化顾客情绪 0.00~1.00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1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行动建议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基于负面反馈生成的改善建议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1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问卷提示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管理层配置的标准问题清单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1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语音转文字，支持普通话和 200+ 方言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1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菜名纠偏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自动纠正口语/方言菜名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1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复盘议题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基于当日桌访生成的议题卡片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1B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会议纪要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分析录音生成：摘要 + 决定 + 待办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版本更新记录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0584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914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厨师长角色 + 录音体验优化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1612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厨师长端上线 · 看板录音播放 · 激励横幅 · 厨房会议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490472"/>
            <a:ext cx="8046720" cy="0"/>
          </a:xfrm>
          <a:prstGeom prst="line">
            <a:avLst/>
          </a:prstGeom>
          <a:noFill/>
          <a:ln w="3810">
            <a:solidFill>
              <a:srgbClr val="8B735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1581912"/>
            <a:ext cx="1005840" cy="320040"/>
          </a:xfrm>
          <a:prstGeom prst="rect">
            <a:avLst/>
          </a:prstGeom>
          <a:solidFill>
            <a:srgbClr val="D4785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819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v1.1.1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15819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1536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看板播放 + 视觉优化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1828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原声播放按钮 · 累计统计 · 视觉优化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157984"/>
            <a:ext cx="8046720" cy="0"/>
          </a:xfrm>
          <a:prstGeom prst="line">
            <a:avLst/>
          </a:prstGeom>
          <a:noFill/>
          <a:ln w="3810">
            <a:solidFill>
              <a:srgbClr val="8B735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2249424"/>
            <a:ext cx="1005840" cy="320040"/>
          </a:xfrm>
          <a:prstGeom prst="rect">
            <a:avLst/>
          </a:prstGeom>
          <a:solidFill>
            <a:srgbClr val="C68B3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494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22494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2026-02-22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2037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例会录音 + 每日运营闭环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17520" y="24963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例会录音 · 运营闭环 · 问卷模板 · 语音识别升级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825496"/>
            <a:ext cx="8046720" cy="0"/>
          </a:xfrm>
          <a:prstGeom prst="line">
            <a:avLst/>
          </a:prstGeom>
          <a:noFill/>
          <a:ln w="3810">
            <a:solidFill>
              <a:srgbClr val="8B735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8640" y="2916936"/>
            <a:ext cx="1005840" cy="320040"/>
          </a:xfrm>
          <a:prstGeom prst="rect">
            <a:avLst/>
          </a:prstGeom>
          <a:solidFill>
            <a:srgbClr val="4A7C8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1693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37360" y="29169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2871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例会 + 问卷 + 情绪优化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17520" y="31638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例会模块 · 问卷管理 · 情绪评分优化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493008"/>
            <a:ext cx="8046720" cy="0"/>
          </a:xfrm>
          <a:prstGeom prst="line">
            <a:avLst/>
          </a:prstGeom>
          <a:noFill/>
          <a:ln w="3810">
            <a:solidFill>
              <a:srgbClr val="8B7355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48640" y="3584448"/>
            <a:ext cx="1005840" cy="320040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5844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37360" y="3584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0" y="3538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看板增强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17520" y="38313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菜品 TOP 5 排行榜 · AI 行动建议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8046720" cy="0"/>
          </a:xfrm>
          <a:prstGeom prst="line">
            <a:avLst/>
          </a:prstGeom>
          <a:noFill/>
          <a:ln w="3810">
            <a:solidFill>
              <a:srgbClr val="8B7355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48640" y="4251960"/>
            <a:ext cx="1005840" cy="32004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51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3736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01752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初始发布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017520" y="44988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桌访录音 · 数据看板 · AI 智库 · PWA 支持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Lingtin 产品综合使用指南 v1.2.0</dc:title>
  <dc:subject>PptxGenJS Presentation</dc:subject>
  <dc:creator>Lingtin</dc:creator>
  <cp:lastModifiedBy>Lingtin</cp:lastModifiedBy>
  <cp:revision>1</cp:revision>
  <dcterms:created xsi:type="dcterms:W3CDTF">2026-02-24T19:32:43Z</dcterms:created>
  <dcterms:modified xsi:type="dcterms:W3CDTF">2026-02-24T19:32:43Z</dcterms:modified>
</cp:coreProperties>
</file>